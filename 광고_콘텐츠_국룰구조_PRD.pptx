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광고·릴스·콘텐츠의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국룰 구조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808080"/>
                </a:solidFill>
              </a:defRPr>
            </a:pPr>
            <a:r>
              <a:t>타겟 → 오퍼 → 크리에이티브 → 랜딩 → 전환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이 문서의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000000"/>
                </a:solidFill>
              </a:defRPr>
            </a:pPr>
            <a:r>
              <a:t>이 문서는 다음과 같은 분들을 위한 가이드입니다: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000000"/>
                </a:solidFill>
              </a:defRPr>
            </a:pPr>
            <a:r>
              <a:t>광고를 처음 접하는 원장님</a:t>
            </a:r>
          </a:p>
          <a:p>
            <a:pPr>
              <a:lnSpc>
                <a:spcPct val="140000"/>
              </a:lnSpc>
              <a:defRPr sz="1800">
                <a:solidFill>
                  <a:srgbClr val="000000"/>
                </a:solidFill>
              </a:defRPr>
            </a:pPr>
            <a:r>
              <a:t>릴스는 만들지만 왜 안 되는지 모르는 원장님</a:t>
            </a:r>
          </a:p>
          <a:p>
            <a:pPr>
              <a:lnSpc>
                <a:spcPct val="140000"/>
              </a:lnSpc>
              <a:defRPr sz="1800">
                <a:solidFill>
                  <a:srgbClr val="000000"/>
                </a:solidFill>
              </a:defRPr>
            </a:pPr>
            <a:r>
              <a:t>마케팅을 '감'으로만 해왔던 원장님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이 구조는 유료 광고뿐만 아니라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FFFFFF"/>
                </a:solidFill>
              </a:defRPr>
            </a:pPr>
            <a:r>
              <a:t>릴스, 블로그, 상세페이지, 상담 구조 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FFFFFF"/>
                </a:solidFill>
              </a:defRPr>
            </a:pPr>
            <a:r>
              <a:t>모든 고객 유입 콘텐츠에 공통으로 적용됩니다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1️⃣ 타겟 (Target)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FFFFFF"/>
                </a:solidFill>
              </a:defRPr>
            </a:pPr>
            <a:r>
              <a:t>"내가 팔고 싶은 사람"이 아니라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"실제로 돈을 쓰고, 선택을 하는 사람"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❌ 원장님들이 흔히 하는 착각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"20~30대 받고 싶어요"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"젊은 손님이 많아야 잘 되는 거 아닌가요?"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"요즘은 인스타니까 젊은 층이죠"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→ 이건 희망사항이지 타겟이 아닙니다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💡 핵심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타겟이 정해지지 않으면 광고/릴스/콘텐츠는 전부 도박이 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올바른 타겟 설정의 출발점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000000"/>
                </a:solidFill>
              </a:defRPr>
            </a:pPr>
            <a:r>
              <a:t>타겟은 아래 질문에서 나옵니다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146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내 샵에서 실제로 돈을 잘 쓰는 사람은 누구인가?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337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그 사람들은 왜 나를 선택했는가?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1605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그 사람들은 어디에서 나를 알게 되었는가?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846320"/>
            <a:ext cx="6400800" cy="64008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9834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그 사람들은 가격에 어떤 반응을 보였는가?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2️⃣ 오퍼 (Offer)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FFFFFF"/>
                </a:solidFill>
              </a:defRPr>
            </a:pPr>
            <a:r>
              <a:t>"왜 지금, 왜 이걸, 왜 여기서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해야 하는지에 대한 이유"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❌ 원장님들이 오해하는 오퍼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808080"/>
                </a:solidFill>
              </a:defRPr>
            </a:pPr>
            <a:r>
              <a:t>할인 / 이벤트 / 리터치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00000"/>
                </a:solidFill>
              </a:defRPr>
            </a:pPr>
            <a:r>
              <a:t>→ 이건 조건이지 오퍼가 아닙니다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✅ 진짜 오퍼의 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808080"/>
                </a:solidFill>
              </a:defRPr>
            </a:pPr>
            <a:r>
              <a:t>"관심은 있는데… 지금 당장 해야 할 이유는 모르겠어"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FFFFFF"/>
                </a:solidFill>
              </a:defRPr>
            </a:pPr>
            <a:r>
              <a:t>→ 오퍼는 이 망설임을 끊어주는 장치입니다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오퍼의 국룰 구성 (4요소)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840480" cy="164592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1. 대상 명확화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FFFFF"/>
                </a:solidFill>
              </a:defRPr>
            </a:pPr>
            <a:r>
              <a:t>"눈썹 처음 하시는 분"</a:t>
            </a:r>
            <a:br/>
            <a:r>
              <a:t>"기존 시술 실패 경험 있으신 분"</a:t>
            </a:r>
            <a:br/>
            <a:r>
              <a:t>"자연눈썹 원하시는 40대 이상 고객"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840480" cy="164592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2. 지금 해야 하는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FFFFF"/>
                </a:solidFill>
              </a:defRPr>
            </a:pPr>
            <a:r>
              <a:t>기간 한정 / 선착순</a:t>
            </a:r>
            <a:br/>
            <a:r>
              <a:t>현재 상태(지금 안 하면 더 어려워짐)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840480" cy="164592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3. 리스크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FFFFF"/>
                </a:solidFill>
              </a:defRPr>
            </a:pPr>
            <a:r>
              <a:t>상담만 가능 / 강요 없음</a:t>
            </a:r>
            <a:br/>
            <a:r>
              <a:t>내 상태 진단 위주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3840480" cy="164592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4. 얻는 결과 한 문장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FFFFF"/>
                </a:solidFill>
              </a:defRPr>
            </a:pPr>
            <a:r>
              <a:t>"실패 확률을 줄이는 선택"</a:t>
            </a:r>
            <a:br/>
            <a:r>
              <a:t>"내 눈썹에 맞는 방향을 알게 됨"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💡 오퍼가 없으면 사람은 저장만 하고 행동하지 않습니다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3️⃣ 크리에이티브 (Creative)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FFFFFF"/>
                </a:solidFill>
              </a:defRPr>
            </a:pPr>
            <a:r>
              <a:t>광고/릴스에서 고객이 처음 마주치는 "입구"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목적: "이건 내 얘기다"라고 느끼게 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❌ 원장님들의 가장 큰 착각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"예쁘게 만들면 된다"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"고퀄 영상이면 된다"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297680"/>
            <a:ext cx="6400800" cy="7315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⚠️ 3초 안에 이해되지 않으면 끝입니다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💡 크리에이티브는 랜딩으로 보내는 화살표입니다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여기서 모든 걸 설명하려 하면 광고도, 릴스도 망합니다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크리에이티브의 국룰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6949440" cy="128016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1️⃣ 문제 직격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488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"광고비 쓰는데 문의 없는 분"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"릴스 열심히 올리는데 예약 없는 분"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6949440" cy="128016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2️⃣ 원인 반전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"광고가 아니라 구조 문제입니다"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"릴스가 아니라 순서 문제입니다"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6949440" cy="1280160"/>
          </a:xfrm>
          <a:prstGeom prst="rect">
            <a:avLst/>
          </a:prstGeom>
          <a:solidFill>
            <a:srgbClr val="4F6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3️⃣ 다음 행동 암시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0749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"이걸 먼저 확인하세요"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59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"이 구조가 없으면 광고는 의미 없습니다"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4️⃣ 랜딩 (Landing)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고객이 '결정하기 전에' 머무르는 공간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❌ 원장님 현실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릴스만 있음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광고 눌렀는데 어디로 가야 할지 모름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플레이스/프로필 정보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→ 고객은 구경만 하고 나갑니다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731520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✅ 랜딩의 진짜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808080"/>
                </a:solidFill>
              </a:defRPr>
            </a:pPr>
            <a:r>
              <a:t>설득 ❌  감동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정보 정리 + 불안 해소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랜딩의 최소 구성 (국룰)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6400800" cy="59436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659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0">
                <a:solidFill>
                  <a:srgbClr val="FFFFFF"/>
                </a:solidFill>
              </a:defRPr>
            </a:pPr>
            <a:r>
              <a:t>1. 이 서비스가 누구에게 맞는지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6400800" cy="59436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974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0">
                <a:solidFill>
                  <a:srgbClr val="FFFFFF"/>
                </a:solidFill>
              </a:defRPr>
            </a:pPr>
            <a:r>
              <a:t>2. 가격 범위 (정확하지 않아도 됨)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91839"/>
            <a:ext cx="6400800" cy="59436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42899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0">
                <a:solidFill>
                  <a:srgbClr val="FFFFFF"/>
                </a:solidFill>
              </a:defRPr>
            </a:pPr>
            <a:r>
              <a:t>3. 진행 방식 (상담 → 시술)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023359"/>
            <a:ext cx="6400800" cy="59436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1605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0">
                <a:solidFill>
                  <a:srgbClr val="FFFFFF"/>
                </a:solidFill>
              </a:defRPr>
            </a:pPr>
            <a:r>
              <a:t>4. 자주 묻는 질문 3~5개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754879"/>
            <a:ext cx="6400800" cy="59436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892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0">
                <a:solidFill>
                  <a:srgbClr val="FFFFFF"/>
                </a:solidFill>
              </a:defRPr>
            </a:pPr>
            <a:r>
              <a:t>5. 행동 버튼 (예약 / 상담)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669280"/>
            <a:ext cx="731520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💡 랜딩이 없는 광고는 사람을 데려와서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FFFFFF"/>
                </a:solidFill>
              </a:defRPr>
            </a:pPr>
            <a:r>
              <a:t>길바닥에 세워두는 것입니다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5️⃣ 전환 (Conversion)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고객이 실제로 행동하게 만드는 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고객의 귀찮음·불안·부담을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대신 처리해주는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000000"/>
                </a:solidFill>
              </a:defRPr>
            </a:pPr>
            <a:r>
              <a:t>❌ 전환이 안 되는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"DM 주세요"</a:t>
            </a:r>
          </a:p>
          <a:p>
            <a:pPr>
              <a:lnSpc>
                <a:spcPct val="140000"/>
              </a:lnSpc>
              <a:defRPr sz="1600">
                <a:solidFill>
                  <a:srgbClr val="808080"/>
                </a:solidFill>
              </a:defRPr>
            </a:pPr>
            <a:r>
              <a:t>"문의 주세요"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700" b="1">
                <a:solidFill>
                  <a:srgbClr val="000000"/>
                </a:solidFill>
              </a:defRPr>
            </a:pPr>
            <a:r>
              <a:t>→ 고객 입장에서는 너무 번거롭고, 너무 불안합니다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00" cy="128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✅ 전환의 국룰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500" b="0">
                <a:solidFill>
                  <a:srgbClr val="FFFFFF"/>
                </a:solidFill>
              </a:defRPr>
            </a:pPr>
            <a:r>
              <a:t>생각하지 않게 만들 것  |  망설이지 않게 만들 것  |  선택지를 단순화할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전환 장치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5486400" cy="68580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900" b="1">
                <a:solidFill>
                  <a:srgbClr val="FFFFFF"/>
                </a:solidFill>
              </a:defRPr>
            </a:pPr>
            <a:r>
              <a:t>상담 신청 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26080"/>
            <a:ext cx="5486400" cy="68580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900" b="1">
                <a:solidFill>
                  <a:srgbClr val="FFFFFF"/>
                </a:solidFill>
              </a:defRPr>
            </a:pPr>
            <a:r>
              <a:t>예약 가능 날짜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5486400" cy="68580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900" b="1">
                <a:solidFill>
                  <a:srgbClr val="FFFFFF"/>
                </a:solidFill>
              </a:defRPr>
            </a:pPr>
            <a:r>
              <a:t>"상담만 진행 가능" 문구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754880"/>
            <a:ext cx="5486400" cy="68580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900" b="1">
                <a:solidFill>
                  <a:srgbClr val="FFFFFF"/>
                </a:solidFill>
              </a:defRPr>
            </a:pPr>
            <a:r>
              <a:t>"선착순 마감" 안내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이 구조의 본질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000000"/>
                </a:solidFill>
              </a:defRPr>
            </a:pPr>
            <a:r>
              <a:t>이 5단계 구조는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0">
                <a:solidFill>
                  <a:srgbClr val="000000"/>
                </a:solidFill>
              </a:defRPr>
            </a:pPr>
            <a:r>
              <a:t>광고 전용 공식이 아니라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200" b="1">
                <a:solidFill>
                  <a:srgbClr val="142850"/>
                </a:solidFill>
              </a:defRPr>
            </a:pPr>
            <a:r>
              <a:t>콘텐츠 제작 공식입니다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800" b="0">
                <a:solidFill>
                  <a:srgbClr val="808080"/>
                </a:solidFill>
              </a:defRPr>
            </a:pPr>
            <a:r>
              <a:t>릴스, 블로그, 광고, 상담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0">
                <a:solidFill>
                  <a:srgbClr val="FFFFFF"/>
                </a:solidFill>
              </a:defRPr>
            </a:pPr>
            <a:r>
              <a:t>광고는 이 구조를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000" b="1">
                <a:solidFill>
                  <a:srgbClr val="FFFFFF"/>
                </a:solidFill>
              </a:defRPr>
            </a:pPr>
            <a:r>
              <a:t>돈으로 증폭시키는 수단일 뿐입니다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핵심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68580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1. 타겟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실제로 돈을 쓰는 사람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6400800" cy="685800"/>
          </a:xfrm>
          <a:prstGeom prst="rect">
            <a:avLst/>
          </a:prstGeom>
          <a:solidFill>
            <a:srgbClr val="3B5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2. 오퍼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88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지금 해야 하는 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6400800" cy="685800"/>
          </a:xfrm>
          <a:prstGeom prst="rect">
            <a:avLst/>
          </a:prstGeom>
          <a:solidFill>
            <a:srgbClr val="4F6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3. 크리에이티브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"이건 내 얘기다" 3초 안에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6400800" cy="685800"/>
          </a:xfrm>
          <a:prstGeom prst="rect">
            <a:avLst/>
          </a:prstGeom>
          <a:solidFill>
            <a:srgbClr val="273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4. 랜딩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34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정보 정리 + 불안 해소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37760"/>
            <a:ext cx="6400800" cy="6858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1">
                <a:solidFill>
                  <a:srgbClr val="FFFFFF"/>
                </a:solidFill>
              </a:defRPr>
            </a:pPr>
            <a:r>
              <a:t>5.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57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FFFFF"/>
                </a:solidFill>
              </a:defRPr>
            </a:pPr>
            <a:r>
              <a:t>생각·망설임 제거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7315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0">
                <a:solidFill>
                  <a:srgbClr val="000000"/>
                </a:solidFill>
              </a:defRPr>
            </a:pPr>
            <a:r>
              <a:t>광고가 어려운 게 아니라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0">
                <a:solidFill>
                  <a:srgbClr val="000000"/>
                </a:solidFill>
              </a:defRPr>
            </a:pPr>
            <a:r>
              <a:t>광고 전에 필요한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3200" b="1">
                <a:solidFill>
                  <a:srgbClr val="142850"/>
                </a:solidFill>
              </a:defRPr>
            </a:pPr>
            <a:r>
              <a:t>구조가 없었던 겁니다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